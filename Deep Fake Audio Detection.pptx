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0" r:id="rId1"/>
  </p:sldMasterIdLst>
  <p:notesMasterIdLst>
    <p:notesMasterId r:id="rId13"/>
  </p:notesMasterIdLst>
  <p:sldIdLst>
    <p:sldId id="500" r:id="rId2"/>
    <p:sldId id="492" r:id="rId3"/>
    <p:sldId id="493" r:id="rId4"/>
    <p:sldId id="499" r:id="rId5"/>
    <p:sldId id="494" r:id="rId6"/>
    <p:sldId id="495" r:id="rId7"/>
    <p:sldId id="496" r:id="rId8"/>
    <p:sldId id="497" r:id="rId9"/>
    <p:sldId id="498" r:id="rId10"/>
    <p:sldId id="501" r:id="rId11"/>
    <p:sldId id="430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3047F1-D24B-489B-880C-4E51D7D040D0}" v="177" dt="2025-07-12T17:52:45.096"/>
  </p1510:revLst>
</p1510:revInfo>
</file>

<file path=ppt/tableStyles.xml><?xml version="1.0" encoding="utf-8"?>
<a:tblStyleLst xmlns:a="http://schemas.openxmlformats.org/drawingml/2006/main" def="{5C22544A-7EE6-4342-B048-85BDC9FD1C3A}"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00" autoAdjust="0"/>
    <p:restoredTop sz="99110" autoAdjust="0"/>
  </p:normalViewPr>
  <p:slideViewPr>
    <p:cSldViewPr>
      <p:cViewPr varScale="1">
        <p:scale>
          <a:sx n="135" d="100"/>
          <a:sy n="135" d="100"/>
        </p:scale>
        <p:origin x="82" y="77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-2832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287FA5-C067-4E4F-8147-A77E89348119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15BE67-2E9A-447C-AF46-59D272817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328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4914900"/>
            <a:ext cx="21336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8FCD1C-8588-4709-BEB2-73486BCF474D}" type="datetime5">
              <a:rPr lang="en-US" smtClean="0"/>
              <a:t>14-Jul-25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914900"/>
            <a:ext cx="28956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 of Seminar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914900"/>
            <a:ext cx="21336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676827"/>
      </p:ext>
    </p:extLst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4914900"/>
            <a:ext cx="1676400" cy="228600"/>
          </a:xfrm>
        </p:spPr>
        <p:txBody>
          <a:bodyPr/>
          <a:lstStyle/>
          <a:p>
            <a:fld id="{8D3E23C1-5B44-4112-93AF-A30E9A7C524B}" type="datetime5">
              <a:rPr lang="en-US" smtClean="0"/>
              <a:t>14-Jul-25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90800" y="4933950"/>
            <a:ext cx="3962400" cy="228600"/>
          </a:xfrm>
        </p:spPr>
        <p:txBody>
          <a:bodyPr/>
          <a:lstStyle/>
          <a:p>
            <a:r>
              <a:rPr lang="en-US" dirty="0"/>
              <a:t>Title of Seminar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43800" y="4914900"/>
            <a:ext cx="1143000" cy="2286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421197"/>
      </p:ext>
    </p:extLst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4914900"/>
            <a:ext cx="1447800" cy="228600"/>
          </a:xfrm>
        </p:spPr>
        <p:txBody>
          <a:bodyPr/>
          <a:lstStyle/>
          <a:p>
            <a:fld id="{7E8AD04D-D170-40EE-B403-D97B74D6DFB9}" type="datetime5">
              <a:rPr lang="en-US" smtClean="0"/>
              <a:t>14-Jul-25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90800" y="4914900"/>
            <a:ext cx="3962400" cy="228600"/>
          </a:xfrm>
        </p:spPr>
        <p:txBody>
          <a:bodyPr/>
          <a:lstStyle/>
          <a:p>
            <a:r>
              <a:rPr lang="en-US"/>
              <a:t>Title of Seminar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39000" y="4914900"/>
            <a:ext cx="1447800" cy="2286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345495"/>
      </p:ext>
    </p:extLst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436A-7370-4199-BDE3-9FA46362589A}" type="datetime5">
              <a:rPr lang="en-US" smtClean="0"/>
              <a:t>14-Jul-25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Seminar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222900"/>
      </p:ext>
    </p:extLst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A6F7-2FD3-4E44-96EF-0AABFEB3FD4C}" type="datetime5">
              <a:rPr lang="en-US" smtClean="0"/>
              <a:t>14-Jul-25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Seminar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995737"/>
      </p:ext>
    </p:extLst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87E73-BF7C-4D7B-AD77-6EC912569560}" type="datetime5">
              <a:rPr lang="en-US" smtClean="0"/>
              <a:t>14-Jul-25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Seminar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06472"/>
      </p:ext>
    </p:extLst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51FB8-617B-4727-8374-B778C5FC049E}" type="datetime5">
              <a:rPr lang="en-US" smtClean="0"/>
              <a:t>14-Jul-25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Seminar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615902"/>
      </p:ext>
    </p:extLst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01DF-D39C-424B-AD8B-46E59B2896B9}" type="datetime5">
              <a:rPr lang="en-US" smtClean="0"/>
              <a:t>14-Jul-25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Seminar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25427"/>
      </p:ext>
    </p:extLst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D6C55-F6DB-479E-B4FF-F57EC2760E6F}" type="datetime5">
              <a:rPr lang="en-US" smtClean="0"/>
              <a:t>14-Jul-25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Seminar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7466"/>
      </p:ext>
    </p:extLst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2AEE2-BAD7-4BEC-8CB0-1B79A92617B4}" type="datetime5">
              <a:rPr lang="en-US" smtClean="0"/>
              <a:t>14-Jul-25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Seminar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33303"/>
      </p:ext>
    </p:extLst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3468C-78FC-431C-9733-A70C6804E538}" type="datetime5">
              <a:rPr lang="en-US" smtClean="0"/>
              <a:t>14-Jul-25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Seminar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373509"/>
      </p:ext>
    </p:extLst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2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Picture1.png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7542" y="4837714"/>
            <a:ext cx="9126458" cy="305786"/>
          </a:xfrm>
          <a:prstGeom prst="rect">
            <a:avLst/>
          </a:prstGeom>
        </p:spPr>
      </p:pic>
      <p:pic>
        <p:nvPicPr>
          <p:cNvPr id="7" name="Picture 6" descr="Picture2.png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5400" y="4592827"/>
            <a:ext cx="660400" cy="535584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0" y="491490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43FA7430-01A1-4F5E-B7E3-1D80248A6685}" type="datetime5">
              <a:rPr lang="en-US" smtClean="0"/>
              <a:t>14-Jul-25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914900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Title of Seminar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91490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67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ransition>
    <p:wipe/>
  </p:transition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90550"/>
            <a:ext cx="7772400" cy="2971800"/>
          </a:xfrm>
        </p:spPr>
        <p:txBody>
          <a:bodyPr>
            <a:noAutofit/>
          </a:bodyPr>
          <a:lstStyle/>
          <a:p>
            <a:pPr lvl="0"/>
            <a:r>
              <a:rPr lang="en-IN" sz="1800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 Mini Project  on</a:t>
            </a:r>
            <a:br>
              <a:rPr lang="en-IN" sz="1800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-IN" sz="2800" b="1" dirty="0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“Deep Fake Audio </a:t>
            </a:r>
            <a:br>
              <a:rPr lang="en-IN" sz="2800" b="1" dirty="0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-IN" sz="2800" b="1" dirty="0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Detection”</a:t>
            </a:r>
            <a:br>
              <a:rPr lang="en-IN" sz="2400" b="1" dirty="0">
                <a:solidFill>
                  <a:srgbClr val="0070C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-IN" sz="1600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Presented By</a:t>
            </a:r>
            <a:br>
              <a:rPr lang="en-IN" sz="1600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1. </a:t>
            </a:r>
            <a: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Times New Roman" pitchFamily="18" charset="0"/>
                <a:sym typeface="Bookman Old Style"/>
              </a:rPr>
              <a:t>Saad Inamdar 58</a:t>
            </a:r>
            <a:b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2. Sagar </a:t>
            </a:r>
            <a:r>
              <a:rPr lang="en-IN" sz="1600" b="1" dirty="0" err="1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Birajadar</a:t>
            </a:r>
            <a: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59</a:t>
            </a:r>
            <a:b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3. Arshad </a:t>
            </a:r>
            <a:r>
              <a:rPr lang="en-IN" sz="1600" b="1" dirty="0" err="1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Perampalli</a:t>
            </a:r>
            <a: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63</a:t>
            </a:r>
            <a:b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b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Times New Roman" pitchFamily="18" charset="0"/>
                <a:sym typeface="Bookman Old Style"/>
              </a:rPr>
              <a:t>Class : T.Y. Sem.-II</a:t>
            </a:r>
            <a:b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Times New Roman" pitchFamily="18" charset="0"/>
                <a:sym typeface="Bookman Old Style"/>
              </a:rPr>
            </a:br>
            <a:br>
              <a:rPr lang="en-IN" sz="1600" dirty="0">
                <a:solidFill>
                  <a:srgbClr val="7030A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-IN" sz="1600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Under the guidance of</a:t>
            </a:r>
            <a:br>
              <a:rPr lang="en-IN" sz="1600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-IN" sz="2400" b="1" dirty="0">
                <a:solidFill>
                  <a:srgbClr val="800000"/>
                </a:solidFill>
                <a:latin typeface="Bookman Old Style" pitchFamily="18" charset="0"/>
                <a:ea typeface="Bookman Old Style"/>
                <a:cs typeface="Times New Roman" pitchFamily="18" charset="0"/>
                <a:sym typeface="Bookman Old Style"/>
              </a:rPr>
              <a:t>Prof. A. S. </a:t>
            </a:r>
            <a:r>
              <a:rPr lang="en-IN" sz="2400" b="1" dirty="0" err="1">
                <a:solidFill>
                  <a:srgbClr val="800000"/>
                </a:solidFill>
                <a:latin typeface="Bookman Old Style" pitchFamily="18" charset="0"/>
                <a:ea typeface="Bookman Old Style"/>
                <a:cs typeface="Times New Roman" pitchFamily="18" charset="0"/>
                <a:sym typeface="Bookman Old Style"/>
              </a:rPr>
              <a:t>Adhatrao</a:t>
            </a:r>
            <a:br>
              <a:rPr lang="en-IN" sz="2400" b="1" dirty="0">
                <a:solidFill>
                  <a:srgbClr val="800000"/>
                </a:solidFill>
                <a:latin typeface="Bookman Old Style" pitchFamily="18" charset="0"/>
                <a:ea typeface="Bookman Old Style"/>
                <a:cs typeface="Times New Roman" pitchFamily="18" charset="0"/>
                <a:sym typeface="Bookman Old Style"/>
              </a:rPr>
            </a:br>
            <a:endParaRPr lang="en-IN" sz="2400" b="1" dirty="0">
              <a:solidFill>
                <a:srgbClr val="800000"/>
              </a:solidFill>
              <a:latin typeface="Bookman Old Style" pitchFamily="18" charset="0"/>
              <a:ea typeface="Bookman Old Style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3638550"/>
            <a:ext cx="8839200" cy="1066800"/>
          </a:xfrm>
        </p:spPr>
        <p:txBody>
          <a:bodyPr>
            <a:noAutofit/>
          </a:bodyPr>
          <a:lstStyle/>
          <a:p>
            <a:pPr lvl="0"/>
            <a:r>
              <a:rPr lang="en-US" sz="1800" b="1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Department of Artificial Intelligence &amp; Data Science</a:t>
            </a:r>
            <a:endParaRPr lang="en-IN" sz="1800" b="1" dirty="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lvl="0"/>
            <a:r>
              <a:rPr lang="en-IN" sz="1800" b="1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N.K. Orchid College of Engineering &amp; Technology, </a:t>
            </a:r>
            <a:r>
              <a:rPr lang="en-IN" sz="1800" b="1" dirty="0" err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Solapur</a:t>
            </a:r>
            <a:r>
              <a:rPr lang="en-IN" sz="1800" b="1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.</a:t>
            </a:r>
            <a:endParaRPr lang="en-IN" sz="1400" b="1" dirty="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lvl="0"/>
            <a:r>
              <a:rPr lang="en-IN" sz="1400" b="1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2024-2025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85750"/>
            <a:ext cx="1257300" cy="12573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187053"/>
            <a:ext cx="1295400" cy="13623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88183196"/>
      </p:ext>
    </p:extLst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Contents</a:t>
            </a:r>
            <a:endParaRPr lang="en-IN" b="1" dirty="0">
              <a:solidFill>
                <a:srgbClr val="8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0" lvl="0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sz="2400" b="1" dirty="0">
                <a:latin typeface="Bookman Old Style" pitchFamily="18" charset="0"/>
                <a:sym typeface="Bookman Old Style"/>
              </a:rPr>
              <a:t>Introduction </a:t>
            </a:r>
          </a:p>
          <a:p>
            <a:pPr marL="457200" lvl="0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sz="2400" b="1" dirty="0">
                <a:latin typeface="Bookman Old Style" pitchFamily="18" charset="0"/>
                <a:sym typeface="Bookman Old Style"/>
              </a:rPr>
              <a:t>Literature Review</a:t>
            </a:r>
            <a:endParaRPr lang="en-US" sz="2400" b="1" dirty="0">
              <a:latin typeface="Bookman Old Style" pitchFamily="18" charset="0"/>
            </a:endParaRPr>
          </a:p>
          <a:p>
            <a:pPr marL="457200" lvl="0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sz="2400" b="1" dirty="0">
                <a:latin typeface="Bookman Old Style" pitchFamily="18" charset="0"/>
              </a:rPr>
              <a:t>Motivation and Problem statement</a:t>
            </a:r>
          </a:p>
          <a:p>
            <a:pPr marL="457200" lvl="0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sz="2400" b="1" dirty="0">
                <a:latin typeface="Bookman Old Style" pitchFamily="18" charset="0"/>
              </a:rPr>
              <a:t>Requirement Analysis</a:t>
            </a:r>
          </a:p>
          <a:p>
            <a:pPr marL="457200" lvl="0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sz="2400" b="1" dirty="0">
                <a:latin typeface="Bookman Old Style" pitchFamily="18" charset="0"/>
              </a:rPr>
              <a:t>Design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Bookman Old Style" pitchFamily="18" charset="0"/>
              </a:rPr>
              <a:t>6.   Implementation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Bookman Old Style" pitchFamily="18" charset="0"/>
              </a:rPr>
              <a:t>7.   Result and Discussion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Bookman Old Style" pitchFamily="18" charset="0"/>
              </a:rPr>
              <a:t>8.   Conclusion</a:t>
            </a:r>
          </a:p>
          <a:p>
            <a:pPr marL="1714500" lvl="4" indent="0" algn="just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lang="en-US" sz="1200" b="1" dirty="0">
              <a:latin typeface="Bookman Old Style" pitchFamily="18" charset="0"/>
              <a:sym typeface="Bookman Old Style"/>
            </a:endParaRP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49CB4-7858-4800-AE60-C69521D5752B}" type="datetime5">
              <a:rPr lang="en-US" smtClean="0"/>
              <a:t>14-Jul-25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Deep Fake Audio Detection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115374"/>
      </p:ext>
    </p:extLst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kern="0" dirty="0">
                <a:latin typeface="Bookman Old Style" panose="02050604050505020204" pitchFamily="18" charset="0"/>
                <a:cs typeface="Times New Roman" pitchFamily="18" charset="0"/>
                <a:sym typeface="Bookman Old Style"/>
              </a:rPr>
              <a:t>Introduction</a:t>
            </a:r>
            <a:endParaRPr lang="en-IN" sz="2800" dirty="0">
              <a:latin typeface="Bookman Old Style" panose="02050604050505020204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800" dirty="0">
                <a:latin typeface="Bookman Old Style" panose="02050604050505020204" pitchFamily="18" charset="0"/>
                <a:cs typeface="Arial" panose="020B0604020202020204" pitchFamily="34" charset="0"/>
              </a:rPr>
              <a:t>The Fake Audio Detection System identifies whether a given voice sample is genuine or artificially generated. It uses deep learning, </a:t>
            </a:r>
            <a:r>
              <a:rPr lang="en-US" sz="2800" dirty="0" err="1">
                <a:latin typeface="Bookman Old Style" panose="02050604050505020204" pitchFamily="18" charset="0"/>
                <a:cs typeface="Arial" panose="020B0604020202020204" pitchFamily="34" charset="0"/>
              </a:rPr>
              <a:t>PyTorch</a:t>
            </a:r>
            <a:r>
              <a:rPr lang="en-US" sz="2800" dirty="0">
                <a:latin typeface="Bookman Old Style" panose="02050604050505020204" pitchFamily="18" charset="0"/>
                <a:cs typeface="Arial" panose="020B0604020202020204" pitchFamily="34" charset="0"/>
              </a:rPr>
              <a:t>, and Wav2Vec2-based models to analyze audio patterns. The system converts audio into spectrograms or embeddings and classifies them using neural networks</a:t>
            </a:r>
            <a:r>
              <a:rPr lang="en-US" sz="2800" dirty="0">
                <a:latin typeface="Bookman Old Style" panose="02050604050505020204" pitchFamily="18" charset="0"/>
              </a:rPr>
              <a:t>.</a:t>
            </a:r>
            <a:endParaRPr lang="en-IN" sz="2800" dirty="0">
              <a:latin typeface="Bookman Old Style" panose="020506040505050202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E815-E9FA-4C4D-B8D9-A05D7343E09F}" type="datetime5">
              <a:rPr lang="en-US" smtClean="0"/>
              <a:t>14-Jul-25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2" y="5029200"/>
            <a:ext cx="3962400" cy="228600"/>
          </a:xfrm>
        </p:spPr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Deep Fake Audio Detection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255611"/>
      </p:ext>
    </p:extLst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9827"/>
            <a:ext cx="8229600" cy="857250"/>
          </a:xfrm>
        </p:spPr>
        <p:txBody>
          <a:bodyPr>
            <a:normAutofit/>
          </a:bodyPr>
          <a:lstStyle/>
          <a:p>
            <a:r>
              <a:rPr lang="en-US" sz="2800" b="1" kern="0" dirty="0">
                <a:latin typeface="Bookman Old Style"/>
                <a:sym typeface="Bookman Old Style"/>
              </a:rPr>
              <a:t>Literature Review</a:t>
            </a: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14-Jul-25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90800" y="5054600"/>
            <a:ext cx="3962400" cy="152400"/>
          </a:xfrm>
        </p:spPr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Deep Fake Audio Detection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5A23A46-EA84-92F9-EAB7-1D16F17796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56332" y="971550"/>
            <a:ext cx="7031336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Deepfake audio is a rising concern due to misuse in fraud, misinformation, and media manipulation.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Previous works used spectrogram-based CNNs and traditional ML.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We integrated Wav2Vec2 (transformer model) for advanced feature extraction and better performance.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Use of Google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Colab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Librosa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Torchaudio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, and Transformers libraries for efficient model training.</a:t>
            </a:r>
          </a:p>
        </p:txBody>
      </p:sp>
    </p:spTree>
    <p:extLst>
      <p:ext uri="{BB962C8B-B14F-4D97-AF65-F5344CB8AC3E}">
        <p14:creationId xmlns:p14="http://schemas.microsoft.com/office/powerpoint/2010/main" val="1367501928"/>
      </p:ext>
    </p:extLst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Bookman Old Style" pitchFamily="18" charset="0"/>
              </a:rPr>
              <a:t>Motivation and Problem statement</a:t>
            </a:r>
            <a:endParaRPr lang="en-IN" sz="2800" dirty="0">
              <a:solidFill>
                <a:srgbClr val="8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b="1" dirty="0">
                <a:latin typeface="Bookman Old Style" panose="02050604050505020204" pitchFamily="18" charset="0"/>
              </a:rPr>
              <a:t>Motivation</a:t>
            </a:r>
          </a:p>
          <a:p>
            <a:pPr marL="0" indent="0" algn="just">
              <a:buNone/>
            </a:pPr>
            <a:r>
              <a:rPr lang="en-US" dirty="0">
                <a:latin typeface="Bookman Old Style" panose="02050604050505020204" pitchFamily="18" charset="0"/>
              </a:rPr>
              <a:t>Fake audio is increasingly used for misinformation and fraud Detection such audio is essential for maintaining trust and security in digital communications.</a:t>
            </a:r>
          </a:p>
          <a:p>
            <a:pPr algn="just"/>
            <a:r>
              <a:rPr lang="en-US" b="1" dirty="0">
                <a:latin typeface="Bookman Old Style" panose="02050604050505020204" pitchFamily="18" charset="0"/>
              </a:rPr>
              <a:t>Problem Statement</a:t>
            </a:r>
          </a:p>
          <a:p>
            <a:pPr marL="0" indent="0" algn="just">
              <a:buNone/>
            </a:pPr>
            <a:r>
              <a:rPr lang="en-US" dirty="0">
                <a:latin typeface="Bookman Old Style" panose="02050604050505020204" pitchFamily="18" charset="0"/>
              </a:rPr>
              <a:t>To develop an AI-based system that accurately detect and classifies fake vs real audio using deep learning and pre-trained models.</a:t>
            </a:r>
          </a:p>
          <a:p>
            <a:pPr algn="just"/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8E32F-E945-4556-9319-7E60B1C1603A}" type="datetime5">
              <a:rPr lang="en-US" smtClean="0"/>
              <a:t>14-Jul-25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90800" y="5010150"/>
            <a:ext cx="3962400" cy="228600"/>
          </a:xfrm>
        </p:spPr>
        <p:txBody>
          <a:bodyPr/>
          <a:lstStyle/>
          <a:p>
            <a:r>
              <a:rPr lang="en-US" dirty="0"/>
              <a:t>Deep Fake Audio Detection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78492"/>
      </p:ext>
    </p:extLst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>
                <a:latin typeface="Bookman Old Style" pitchFamily="18" charset="0"/>
              </a:rPr>
              <a:t>Requirement Analysis</a:t>
            </a:r>
            <a:br>
              <a:rPr lang="en-US" sz="2800" b="1" dirty="0">
                <a:latin typeface="Bookman Old Style" pitchFamily="18" charset="0"/>
              </a:rPr>
            </a:br>
            <a:endParaRPr lang="en-US" sz="2800" dirty="0">
              <a:solidFill>
                <a:srgbClr val="80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DEF7B-8F7B-4724-84CF-0612C3F66405}" type="datetime5">
              <a:rPr lang="en-US" smtClean="0"/>
              <a:t>14-Jul-25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90800" y="5086350"/>
            <a:ext cx="3962400" cy="76200"/>
          </a:xfrm>
        </p:spPr>
        <p:txBody>
          <a:bodyPr/>
          <a:lstStyle/>
          <a:p>
            <a:r>
              <a:rPr lang="en-US" dirty="0"/>
              <a:t>Deep Fake Audio Detection</a:t>
            </a:r>
          </a:p>
          <a:p>
            <a:r>
              <a:rPr lang="en-US" dirty="0"/>
              <a:t>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277C7C93-11EE-7F66-5B1C-551A287DDD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4800" y="1280815"/>
            <a:ext cx="85344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Python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– Core implementation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PyTorch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– Custom CNN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Transformers (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HuggingFace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– Wav2Vec2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Google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Colab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– Development platform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Librosa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/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Torchaudio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– Audio preprocessing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Sklearn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– Metrics, splitting, and visualization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Streamlit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– UI for deployment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Dataset</a:t>
            </a:r>
            <a:r>
              <a:rPr lang="en-US" altLang="en-US" sz="2400" dirty="0">
                <a:latin typeface="Bookman Old Style" panose="02050604050505020204" pitchFamily="18" charset="0"/>
              </a:rPr>
              <a:t> –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"The Fake or Real Dataset" from Kaggle</a:t>
            </a:r>
          </a:p>
        </p:txBody>
      </p:sp>
    </p:spTree>
    <p:extLst>
      <p:ext uri="{BB962C8B-B14F-4D97-AF65-F5344CB8AC3E}">
        <p14:creationId xmlns:p14="http://schemas.microsoft.com/office/powerpoint/2010/main" val="1117297101"/>
      </p:ext>
    </p:extLst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latin typeface="Bookman Old Style" pitchFamily="18" charset="0"/>
              </a:rPr>
              <a:t>Design</a:t>
            </a:r>
            <a:br>
              <a:rPr lang="en-US" sz="4400" b="1" dirty="0">
                <a:latin typeface="Bookman Old Style" pitchFamily="18" charset="0"/>
              </a:rPr>
            </a:br>
            <a:endParaRPr lang="en-US" dirty="0">
              <a:solidFill>
                <a:srgbClr val="8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4572000" cy="3394472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2400" dirty="0"/>
              <a:t>	</a:t>
            </a:r>
            <a:r>
              <a:rPr lang="en-US" sz="2400" dirty="0">
                <a:latin typeface="Bookman Old Style" panose="02050604050505020204" pitchFamily="18" charset="0"/>
              </a:rPr>
              <a:t>The system processes labeled audio samples by converting them to </a:t>
            </a:r>
            <a:r>
              <a:rPr lang="en-US" sz="2400" b="1" dirty="0">
                <a:latin typeface="Bookman Old Style" panose="02050604050505020204" pitchFamily="18" charset="0"/>
              </a:rPr>
              <a:t>16kHz</a:t>
            </a:r>
            <a:r>
              <a:rPr lang="en-US" sz="2400" dirty="0">
                <a:latin typeface="Bookman Old Style" panose="02050604050505020204" pitchFamily="18" charset="0"/>
              </a:rPr>
              <a:t> and applying truncation or padding. Features are extracted using </a:t>
            </a:r>
            <a:r>
              <a:rPr lang="en-US" sz="2400" b="1" dirty="0">
                <a:latin typeface="Bookman Old Style" panose="02050604050505020204" pitchFamily="18" charset="0"/>
              </a:rPr>
              <a:t>Mel spectrograms</a:t>
            </a:r>
            <a:r>
              <a:rPr lang="en-US" sz="2400" dirty="0">
                <a:latin typeface="Bookman Old Style" panose="02050604050505020204" pitchFamily="18" charset="0"/>
              </a:rPr>
              <a:t> for a custom CNN with 1D Conv layers, and </a:t>
            </a:r>
            <a:r>
              <a:rPr lang="en-US" sz="2400" b="1" dirty="0">
                <a:latin typeface="Bookman Old Style" panose="02050604050505020204" pitchFamily="18" charset="0"/>
              </a:rPr>
              <a:t>Wav2Vec2 embeddings</a:t>
            </a:r>
            <a:r>
              <a:rPr lang="en-US" sz="2400" dirty="0">
                <a:latin typeface="Bookman Old Style" panose="02050604050505020204" pitchFamily="18" charset="0"/>
              </a:rPr>
              <a:t> for a pre-trained transformer model with a classifier head. The final output classifies the audio as </a:t>
            </a:r>
            <a:r>
              <a:rPr lang="en-US" sz="2400" b="1" dirty="0">
                <a:latin typeface="Bookman Old Style" panose="02050604050505020204" pitchFamily="18" charset="0"/>
              </a:rPr>
              <a:t>fake or rea</a:t>
            </a:r>
            <a:r>
              <a:rPr lang="en-US" sz="2400" dirty="0">
                <a:latin typeface="Bookman Old Style" panose="02050604050505020204" pitchFamily="18" charset="0"/>
              </a:rPr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656BB-791F-4255-94EC-82C42A5F5982}" type="datetime5">
              <a:rPr lang="en-US" smtClean="0"/>
              <a:t>14-Jul-25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Deep Fake Audio Detection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5D1555A-DA52-0225-E53E-17ACD874A8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1063230"/>
            <a:ext cx="3352800" cy="3531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027922"/>
      </p:ext>
    </p:extLst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Bookman Old Style" pitchFamily="18" charset="0"/>
              </a:rPr>
              <a:t>Implementation</a:t>
            </a:r>
            <a:endParaRPr lang="en-US" sz="2800" dirty="0">
              <a:solidFill>
                <a:srgbClr val="80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70C0-2300-44A5-8EF7-1C0E56D7B68B}" type="datetime5">
              <a:rPr lang="en-US" smtClean="0"/>
              <a:t>14-Jul-25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Deep Fake Audio Detection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3" name="Rectangle 16">
            <a:extLst>
              <a:ext uri="{FF2B5EF4-FFF2-40B4-BE49-F238E27FC236}">
                <a16:creationId xmlns:a16="http://schemas.microsoft.com/office/drawing/2014/main" id="{9C6808AE-E5D4-7C8D-8A8A-E76DB1CB5B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189029"/>
            <a:ext cx="787106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anose="020B0604020202020204" pitchFamily="34" charset="0"/>
              </a:rPr>
              <a:t>Split dataset into train, validation, and test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anose="020B0604020202020204" pitchFamily="34" charset="0"/>
              </a:rPr>
              <a:t>Built custom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anose="020B0604020202020204" pitchFamily="34" charset="0"/>
              </a:rPr>
              <a:t>AudioDataset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anose="020B0604020202020204" pitchFamily="34" charset="0"/>
              </a:rPr>
              <a:t> class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anose="020B0604020202020204" pitchFamily="34" charset="0"/>
              </a:rPr>
              <a:t>Uploaded Kaggle dataset using Kaggle API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anose="020B0604020202020204" pitchFamily="34" charset="0"/>
              </a:rPr>
              <a:t>Implemented two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anose="020B0604020202020204" pitchFamily="34" charset="0"/>
              </a:rPr>
              <a:t>Custom 1D CNN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anose="020B0604020202020204" pitchFamily="34" charset="0"/>
              </a:rPr>
              <a:t>Wav2Vec2-based classifier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anose="020B0604020202020204" pitchFamily="34" charset="0"/>
              </a:rPr>
              <a:t>Trained and evaluated both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anose="020B0604020202020204" pitchFamily="34" charset="0"/>
              </a:rPr>
              <a:t>Deployed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anose="020B0604020202020204" pitchFamily="34" charset="0"/>
              </a:rPr>
              <a:t>Streamlit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anose="020B0604020202020204" pitchFamily="34" charset="0"/>
              </a:rPr>
              <a:t> app for real-time predictions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Arial" panose="020B0604020202020204" pitchFamily="34" charset="0"/>
              </a:rPr>
              <a:t>Integrated Google Drive for saving/loading models</a:t>
            </a:r>
          </a:p>
        </p:txBody>
      </p:sp>
    </p:spTree>
    <p:extLst>
      <p:ext uri="{BB962C8B-B14F-4D97-AF65-F5344CB8AC3E}">
        <p14:creationId xmlns:p14="http://schemas.microsoft.com/office/powerpoint/2010/main" val="485317503"/>
      </p:ext>
    </p:extLst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Bookman Old Style" pitchFamily="18" charset="0"/>
              </a:rPr>
              <a:t>Result and Discussion</a:t>
            </a:r>
            <a:endParaRPr lang="en-US" sz="2800" dirty="0">
              <a:solidFill>
                <a:srgbClr val="80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9691D-29F2-49E5-B3EA-468AD18B27D8}" type="datetime5">
              <a:rPr lang="en-US" smtClean="0"/>
              <a:t>14-Jul-25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Deep Fake Audio Detection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79D62734-D8BD-31E4-4710-1354B3C83B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616" y="1063229"/>
            <a:ext cx="2417384" cy="2407518"/>
          </a:xfr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2331F40-50B1-B97A-3635-7B69025D4F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064499"/>
            <a:ext cx="2590800" cy="363209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E79B7D5-319E-0FFA-B25A-EE6F9D37C103}"/>
              </a:ext>
            </a:extLst>
          </p:cNvPr>
          <p:cNvSpPr txBox="1"/>
          <p:nvPr/>
        </p:nvSpPr>
        <p:spPr>
          <a:xfrm>
            <a:off x="299720" y="1181815"/>
            <a:ext cx="322649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ookman Old Style" panose="02050604050505020204" pitchFamily="18" charset="0"/>
              </a:rPr>
              <a:t>After classification, the results are displayed in real-time on the </a:t>
            </a:r>
            <a:r>
              <a:rPr lang="en-US" sz="2000" dirty="0" err="1">
                <a:latin typeface="Bookman Old Style" panose="02050604050505020204" pitchFamily="18" charset="0"/>
              </a:rPr>
              <a:t>Streamlit</a:t>
            </a:r>
            <a:r>
              <a:rPr lang="en-US" sz="2000" dirty="0">
                <a:latin typeface="Bookman Old Style" panose="02050604050505020204" pitchFamily="18" charset="0"/>
              </a:rPr>
              <a:t> interface:</a:t>
            </a:r>
          </a:p>
          <a:p>
            <a:r>
              <a:rPr lang="en-US" sz="2000" dirty="0">
                <a:latin typeface="Bookman Old Style" panose="02050604050505020204" pitchFamily="18" charset="0"/>
              </a:rPr>
              <a:t>Audio playback option, Mel Spectrogram visualization, Classification result (Fake or Real).</a:t>
            </a:r>
            <a:endParaRPr lang="en-IN" sz="20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029767"/>
      </p:ext>
    </p:extLst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kern="0" dirty="0">
                <a:latin typeface="Bookman Old Style"/>
                <a:sym typeface="Bookman Old Style"/>
              </a:rPr>
              <a:t>Conclusion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	</a:t>
            </a:r>
            <a:r>
              <a:rPr lang="en-US" dirty="0">
                <a:latin typeface="Bookman Old Style" panose="02050604050505020204" pitchFamily="18" charset="0"/>
              </a:rPr>
              <a:t>The Fake Audio Detection System effectively detects fake audio using deep learning and transfer learning techniques. It shows promising accuracy with Wav2Vec2 outperforming traditional CNNs. The project demonstrates real-world application of AI in audio forensics with a user-friendly interface.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E23C1-5B44-4112-93AF-A30E9A7C524B}" type="datetime5">
              <a:rPr lang="en-US" smtClean="0"/>
              <a:t>14-Jul-25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>
                <a:latin typeface="Bookman Old Style" panose="02050604050505020204" pitchFamily="18" charset="0"/>
              </a:rPr>
              <a:t>Deep Fake Audio Detection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519315"/>
      </p:ext>
    </p:extLst>
  </p:cSld>
  <p:clrMapOvr>
    <a:masterClrMapping/>
  </p:clrMapOvr>
  <p:transition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D8B07-EB38-4AA3-B362-3D7CB8E9D62E}" type="datetime5">
              <a:rPr lang="en-US" smtClean="0"/>
              <a:t>14-Jul-25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74147" y="1246921"/>
            <a:ext cx="5395705" cy="35814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itle 2"/>
          <p:cNvSpPr txBox="1">
            <a:spLocks/>
          </p:cNvSpPr>
          <p:nvPr/>
        </p:nvSpPr>
        <p:spPr bwMode="auto">
          <a:xfrm>
            <a:off x="1333500" y="361950"/>
            <a:ext cx="6477000" cy="85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I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leway" pitchFamily="34" charset="0"/>
              </a:rPr>
              <a:t>THANK YOU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Deep Fake Audio Detection</a:t>
            </a:r>
          </a:p>
        </p:txBody>
      </p:sp>
    </p:spTree>
    <p:extLst>
      <p:ext uri="{BB962C8B-B14F-4D97-AF65-F5344CB8AC3E}">
        <p14:creationId xmlns:p14="http://schemas.microsoft.com/office/powerpoint/2010/main" val="4240791548"/>
      </p:ext>
    </p:extLst>
  </p:cSld>
  <p:clrMapOvr>
    <a:masterClrMapping/>
  </p:clrMapOvr>
  <p:transition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8482</TotalTime>
  <Words>562</Words>
  <Application>Microsoft Office PowerPoint</Application>
  <PresentationFormat>On-screen Show (16:9)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Bookman Old Style</vt:lpstr>
      <vt:lpstr>Calibri</vt:lpstr>
      <vt:lpstr>Raleway</vt:lpstr>
      <vt:lpstr>Office Theme</vt:lpstr>
      <vt:lpstr>A Mini Project  on “Deep Fake Audio  Detection” Presented By 1. Saad Inamdar 58 2. Sagar Birajadar 59 3. Arshad Perampalli 63  Class : T.Y. Sem.-II  Under the guidance of Prof. A. S. Adhatrao </vt:lpstr>
      <vt:lpstr>Contents</vt:lpstr>
      <vt:lpstr>Introduction</vt:lpstr>
      <vt:lpstr>Literature Review</vt:lpstr>
      <vt:lpstr>Motivation and Problem statement</vt:lpstr>
      <vt:lpstr>Requirement Analysis </vt:lpstr>
      <vt:lpstr>Design </vt:lpstr>
      <vt:lpstr>Implementation</vt:lpstr>
      <vt:lpstr>Result and Discussion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Adesh Chandanshive</dc:creator>
  <cp:keywords>Orchid EnTC</cp:keywords>
  <cp:lastModifiedBy>Ubada Perampalli</cp:lastModifiedBy>
  <cp:revision>352</cp:revision>
  <dcterms:created xsi:type="dcterms:W3CDTF">2006-08-16T00:00:00Z</dcterms:created>
  <dcterms:modified xsi:type="dcterms:W3CDTF">2025-07-14T06:20:29Z</dcterms:modified>
</cp:coreProperties>
</file>